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41148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dirty="0">
                <a:b/>
                <a:solidFill>
                  <a:srgbClr val="172033"/>
                </a:solidFill>
              </a:rPr>
              <a:t>AI Learning Experience Architecture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8640" y="114300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dirty="0">
                <a:solidFill>
                  <a:srgbClr val="5B6578"/>
                </a:solidFill>
              </a:rPr>
              <a:t>Repo structure, Roblox runtime, backend agents, and LLM game director in one visual deck.</a:t>
            </a:r>
          </a:p>
        </p:txBody>
      </p:sp>
      <p:sp>
        <p:nvSpPr>
          <p:cNvPr id="4" name="Shape 4"/>
          <p:cNvSpPr/>
          <p:nvPr/>
        </p:nvSpPr>
        <p:spPr>
          <a:xfrm>
            <a:off x="685800" y="2057400"/>
            <a:ext cx="3200400" cy="105156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2563EB"/>
            </a:solidFill>
          </a:ln>
        </p:spPr>
        <p:txBody>
          <a:bodyPr wrap="square"/>
          <a:lstStyle/>
          <a:p>
            <a:r>
              <a:rPr lang="en-US" sz="1500" dirty="0">
                <a:b/>
                <a:solidFill>
                  <a:srgbClr val="172033"/>
                </a:solidFill>
              </a:rPr>
              <a:t>Roblox Runtime</a:t>
            </a:r>
          </a:p>
          <a:p>
            <a:r>
              <a:rPr lang="en-US" sz="1500" dirty="0">
                <a:solidFill>
                  <a:srgbClr val="172033"/>
                </a:solidFill>
              </a:rPr>
              <a:t>Visuals, input, object attributes, approved deltas</a:t>
            </a:r>
          </a:p>
        </p:txBody>
      </p:sp>
      <p:sp>
        <p:nvSpPr>
          <p:cNvPr id="5" name="Shape 5"/>
          <p:cNvSpPr/>
          <p:nvPr/>
        </p:nvSpPr>
        <p:spPr>
          <a:xfrm>
            <a:off x="4480560" y="2057400"/>
            <a:ext cx="3200400" cy="1051560"/>
          </a:xfrm>
          <a:prstGeom prst="roundRect">
            <a:avLst/>
          </a:prstGeom>
          <a:solidFill>
            <a:srgbClr val="F0FDF4"/>
          </a:solidFill>
          <a:ln w="16000">
            <a:solidFill>
              <a:srgbClr val="16A34A"/>
            </a:solidFill>
          </a:ln>
        </p:spPr>
        <p:txBody>
          <a:bodyPr wrap="square"/>
          <a:lstStyle/>
          <a:p>
            <a:r>
              <a:rPr lang="en-US" sz="1500" dirty="0">
                <a:b/>
                <a:solidFill>
                  <a:srgbClr val="172033"/>
                </a:solidFill>
              </a:rPr>
              <a:t>Backend Authority</a:t>
            </a:r>
          </a:p>
          <a:p>
            <a:r>
              <a:rPr lang="en-US" sz="1500" dirty="0">
                <a:solidFill>
                  <a:srgbClr val="172033"/>
                </a:solidFill>
              </a:rPr>
              <a:t>Canonical state, agents, simulation, validation</a:t>
            </a:r>
          </a:p>
        </p:txBody>
      </p:sp>
      <p:sp>
        <p:nvSpPr>
          <p:cNvPr id="6" name="Shape 6"/>
          <p:cNvSpPr/>
          <p:nvPr/>
        </p:nvSpPr>
        <p:spPr>
          <a:xfrm>
            <a:off x="8275320" y="2057400"/>
            <a:ext cx="3200400" cy="1051560"/>
          </a:xfrm>
          <a:prstGeom prst="roundRect">
            <a:avLst/>
          </a:prstGeom>
          <a:solidFill>
            <a:srgbClr val="F5F3FF"/>
          </a:solidFill>
          <a:ln w="16000">
            <a:solidFill>
              <a:srgbClr val="7C3AED"/>
            </a:solidFill>
          </a:ln>
        </p:spPr>
        <p:txBody>
          <a:bodyPr wrap="square"/>
          <a:lstStyle/>
          <a:p>
            <a:r>
              <a:rPr lang="en-US" sz="1500" dirty="0">
                <a:b/>
                <a:solidFill>
                  <a:srgbClr val="172033"/>
                </a:solidFill>
              </a:rPr>
              <a:t>LLM Game Director</a:t>
            </a:r>
          </a:p>
          <a:p>
            <a:r>
              <a:rPr lang="en-US" sz="1500" dirty="0">
                <a:solidFill>
                  <a:srgbClr val="172033"/>
                </a:solidFill>
              </a:rPr>
              <a:t>Grouped reasoning, teaching intent, structured directives</a:t>
            </a:r>
          </a:p>
        </p:txBody>
      </p:sp>
      <p:cxnSp>
        <p:nvCxnSpPr>
          <p:cNvPr id="7" name="Arrow 7"/>
          <p:cNvCxnSpPr/>
          <p:nvPr/>
        </p:nvCxnSpPr>
        <p:spPr>
          <a:xfrm>
            <a:off x="3886200" y="2578608"/>
            <a:ext cx="594360" cy="1"/>
          </a:xfrm>
          <a:prstGeom prst="line">
            <a:avLst/>
          </a:prstGeom>
          <a:ln w="28000">
            <a:solidFill>
              <a:srgbClr val="5B6578"/>
            </a:solidFill>
            <a:tailEnd type="triangle"/>
          </a:ln>
        </p:spPr>
      </p:cxnSp>
      <p:cxnSp>
        <p:nvCxnSpPr>
          <p:cNvPr id="8" name="Arrow 8"/>
          <p:cNvCxnSpPr/>
          <p:nvPr/>
        </p:nvCxnSpPr>
        <p:spPr>
          <a:xfrm>
            <a:off x="7680960" y="2578608"/>
            <a:ext cx="594360" cy="1"/>
          </a:xfrm>
          <a:prstGeom prst="line">
            <a:avLst/>
          </a:prstGeom>
          <a:ln w="28000">
            <a:solidFill>
              <a:srgbClr val="5B6578"/>
            </a:solidFill>
            <a:tailEnd type="triangle"/>
          </a:ln>
        </p:spPr>
      </p:cxnSp>
      <p:sp>
        <p:nvSpPr>
          <p:cNvPr id="9" name="Shape 9"/>
          <p:cNvSpPr/>
          <p:nvPr/>
        </p:nvSpPr>
        <p:spPr>
          <a:xfrm>
            <a:off x="960120" y="3977639"/>
            <a:ext cx="10287000" cy="960120"/>
          </a:xfrm>
          <a:prstGeom prst="roundRect">
            <a:avLst/>
          </a:prstGeom>
          <a:solidFill>
            <a:srgbClr val="FFFFFF"/>
          </a:solidFill>
          <a:ln w="16000">
            <a:solidFill>
              <a:srgbClr val="CBD5E1"/>
            </a:solidFill>
          </a:ln>
        </p:spPr>
        <p:txBody>
          <a:bodyPr wrap="square"/>
          <a:lstStyle/>
          <a:p>
            <a:r>
              <a:rPr lang="en-US" sz="1600" dirty="0">
                <a:b/>
                <a:solidFill>
                  <a:srgbClr val="172033"/>
                </a:solidFill>
              </a:rPr>
              <a:t>Final decision</a:t>
            </a:r>
          </a:p>
          <a:p>
            <a:r>
              <a:rPr lang="en-US" sz="1600" dirty="0">
                <a:solidFill>
                  <a:srgbClr val="172033"/>
                </a:solidFill>
              </a:rPr>
              <a:t>Build now with FastAPI Backend Authority. Keep Cloudflare Durable Objects as the later production coordination layer.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dirty="0">
                <a:b/>
                <a:solidFill>
                  <a:srgbClr val="172033"/>
                </a:solidFill>
              </a:rPr>
              <a:t>Repository Structure</a:t>
            </a:r>
          </a:p>
        </p:txBody>
      </p:sp>
      <p:sp>
        <p:nvSpPr>
          <p:cNvPr id="3" name="Shape 3"/>
          <p:cNvSpPr/>
          <p:nvPr/>
        </p:nvSpPr>
        <p:spPr>
          <a:xfrm>
            <a:off x="594360" y="1234440"/>
            <a:ext cx="3246120" cy="1417320"/>
          </a:xfrm>
          <a:prstGeom prst="roundRect">
            <a:avLst/>
          </a:prstGeom>
          <a:solidFill>
            <a:srgbClr val="F0FDF4"/>
          </a:solidFill>
          <a:ln w="16000">
            <a:solidFill>
              <a:srgbClr val="16A34A"/>
            </a:solidFill>
          </a:ln>
        </p:spPr>
        <p:txBody>
          <a:bodyPr wrap="square"/>
          <a:lstStyle/>
          <a:p>
            <a:r>
              <a:rPr lang="en-US" sz="1450" dirty="0">
                <a:b/>
                <a:solidFill>
                  <a:srgbClr val="172033"/>
                </a:solidFill>
              </a:rPr>
              <a:t>backend/</a:t>
            </a:r>
          </a:p>
          <a:p>
            <a:r>
              <a:rPr lang="en-US" sz="1450" dirty="0">
                <a:solidFill>
                  <a:srgbClr val="172033"/>
                </a:solidFill>
              </a:rPr>
              <a:t>FastAPI simulation authority, APIs, schemas, rules, storage, tests</a:t>
            </a:r>
          </a:p>
        </p:txBody>
      </p:sp>
      <p:sp>
        <p:nvSpPr>
          <p:cNvPr id="4" name="Shape 4"/>
          <p:cNvSpPr/>
          <p:nvPr/>
        </p:nvSpPr>
        <p:spPr>
          <a:xfrm>
            <a:off x="4343400" y="1234440"/>
            <a:ext cx="3246120" cy="141732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2563EB"/>
            </a:solidFill>
          </a:ln>
        </p:spPr>
        <p:txBody>
          <a:bodyPr wrap="square"/>
          <a:lstStyle/>
          <a:p>
            <a:r>
              <a:rPr lang="en-US" sz="1450" dirty="0">
                <a:b/>
                <a:solidFill>
                  <a:srgbClr val="172033"/>
                </a:solidFill>
              </a:rPr>
              <a:t>src/CellExperience/</a:t>
            </a:r>
          </a:p>
          <a:p>
            <a:r>
              <a:rPr lang="en-US" sz="1450" dirty="0">
                <a:solidFill>
                  <a:srgbClr val="172033"/>
                </a:solidFill>
              </a:rPr>
              <a:t>Roblox Luau world builder, gameplay, organelle models, generated specs</a:t>
            </a:r>
          </a:p>
        </p:txBody>
      </p:sp>
      <p:sp>
        <p:nvSpPr>
          <p:cNvPr id="5" name="Shape 5"/>
          <p:cNvSpPr/>
          <p:nvPr/>
        </p:nvSpPr>
        <p:spPr>
          <a:xfrm>
            <a:off x="8092440" y="1234440"/>
            <a:ext cx="3246120" cy="141732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2563EB"/>
            </a:solidFill>
          </a:ln>
        </p:spPr>
        <p:txBody>
          <a:bodyPr wrap="square"/>
          <a:lstStyle/>
          <a:p>
            <a:r>
              <a:rPr lang="en-US" sz="1450" dirty="0">
                <a:b/>
                <a:solidFill>
                  <a:srgbClr val="172033"/>
                </a:solidFill>
              </a:rPr>
              <a:t>roblox_bridge/</a:t>
            </a:r>
          </a:p>
          <a:p>
            <a:r>
              <a:rPr lang="en-US" sz="1450" dirty="0">
                <a:solidFill>
                  <a:srgbClr val="172033"/>
                </a:solidFill>
              </a:rPr>
              <a:t>Server-side HttpService bridge, remotes, client listener example</a:t>
            </a:r>
          </a:p>
        </p:txBody>
      </p:sp>
      <p:sp>
        <p:nvSpPr>
          <p:cNvPr id="6" name="Shape 6"/>
          <p:cNvSpPr/>
          <p:nvPr/>
        </p:nvSpPr>
        <p:spPr>
          <a:xfrm>
            <a:off x="594360" y="3337560"/>
            <a:ext cx="3246120" cy="1417320"/>
          </a:xfrm>
          <a:prstGeom prst="roundRect">
            <a:avLst/>
          </a:prstGeom>
          <a:solidFill>
            <a:srgbClr val="F5F3FF"/>
          </a:solidFill>
          <a:ln w="16000">
            <a:solidFill>
              <a:srgbClr val="7C3AED"/>
            </a:solidFill>
          </a:ln>
        </p:spPr>
        <p:txBody>
          <a:bodyPr wrap="square"/>
          <a:lstStyle/>
          <a:p>
            <a:r>
              <a:rPr lang="en-US" sz="1450" dirty="0">
                <a:b/>
                <a:solidFill>
                  <a:srgbClr val="172033"/>
                </a:solidFill>
              </a:rPr>
              <a:t>docs/</a:t>
            </a:r>
          </a:p>
          <a:p>
            <a:r>
              <a:rPr lang="en-US" sz="1450" dirty="0">
                <a:solidFill>
                  <a:srgbClr val="172033"/>
                </a:solidFill>
              </a:rPr>
              <a:t>Architecture, repo structure, roadmap, MCP notes, visualizations</a:t>
            </a:r>
          </a:p>
        </p:txBody>
      </p:sp>
      <p:sp>
        <p:nvSpPr>
          <p:cNvPr id="7" name="Shape 7"/>
          <p:cNvSpPr/>
          <p:nvPr/>
        </p:nvSpPr>
        <p:spPr>
          <a:xfrm>
            <a:off x="4343400" y="3337560"/>
            <a:ext cx="3246120" cy="1417320"/>
          </a:xfrm>
          <a:prstGeom prst="roundRect">
            <a:avLst/>
          </a:prstGeom>
          <a:solidFill>
            <a:srgbClr val="FFFBEB"/>
          </a:solidFill>
          <a:ln w="16000">
            <a:solidFill>
              <a:srgbClr val="D97706"/>
            </a:solidFill>
          </a:ln>
        </p:spPr>
        <p:txBody>
          <a:bodyPr wrap="square"/>
          <a:lstStyle/>
          <a:p>
            <a:r>
              <a:rPr lang="en-US" sz="1450" dirty="0">
                <a:b/>
                <a:solidFill>
                  <a:srgbClr val="172033"/>
                </a:solidFill>
              </a:rPr>
              <a:t>organelle_projects/</a:t>
            </a:r>
          </a:p>
          <a:p>
            <a:r>
              <a:rPr lang="en-US" sz="1450" dirty="0">
                <a:solidFill>
                  <a:srgbClr val="172033"/>
                </a:solidFill>
              </a:rPr>
              <a:t>Per-organelle research and design workspaces, 01-18 briefs</a:t>
            </a:r>
          </a:p>
        </p:txBody>
      </p:sp>
      <p:sp>
        <p:nvSpPr>
          <p:cNvPr id="8" name="Shape 8"/>
          <p:cNvSpPr/>
          <p:nvPr/>
        </p:nvSpPr>
        <p:spPr>
          <a:xfrm>
            <a:off x="8092440" y="3337560"/>
            <a:ext cx="3246120" cy="1417320"/>
          </a:xfrm>
          <a:prstGeom prst="roundRect">
            <a:avLst/>
          </a:prstGeom>
          <a:solidFill>
            <a:srgbClr val="F8FAFC"/>
          </a:solidFill>
          <a:ln w="16000">
            <a:solidFill>
              <a:srgbClr val="334155"/>
            </a:solidFill>
          </a:ln>
        </p:spPr>
        <p:txBody>
          <a:bodyPr wrap="square"/>
          <a:lstStyle/>
          <a:p>
            <a:r>
              <a:rPr lang="en-US" sz="1450" dirty="0">
                <a:b/>
                <a:solidFill>
                  <a:srgbClr val="172033"/>
                </a:solidFill>
              </a:rPr>
              <a:t>tools/</a:t>
            </a:r>
          </a:p>
          <a:p>
            <a:r>
              <a:rPr lang="en-US" sz="1450" dirty="0">
                <a:solidFill>
                  <a:srgbClr val="172033"/>
                </a:solidFill>
              </a:rPr>
              <a:t>Generation, deployment, Roblox Studio MCP, validation and audit scripts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dirty="0">
                <a:b/>
                <a:solidFill>
                  <a:srgbClr val="172033"/>
                </a:solidFill>
              </a:rPr>
              <a:t>Agentic Runtime Architecture</a:t>
            </a:r>
          </a:p>
        </p:txBody>
      </p:sp>
      <p:sp>
        <p:nvSpPr>
          <p:cNvPr id="10" name="Shape 10"/>
          <p:cNvSpPr/>
          <p:nvPr/>
        </p:nvSpPr>
        <p:spPr>
          <a:xfrm>
            <a:off x="502920" y="1051560"/>
            <a:ext cx="3063240" cy="5074920"/>
          </a:xfrm>
          <a:prstGeom prst="roundRect">
            <a:avLst/>
          </a:prstGeom>
          <a:solidFill>
            <a:srgbClr val="FFFFFF"/>
          </a:solidFill>
          <a:ln w="16000">
            <a:solidFill>
              <a:srgbClr val="2563EB"/>
            </a:solidFill>
          </a:ln>
        </p:spPr>
        <p:txBody>
          <a:bodyPr wrap="square"/>
          <a:lstStyle/>
          <a:p>
            <a:r>
              <a:rPr lang="en-US" sz="1700" dirty="0">
                <a:b/>
                <a:solidFill>
                  <a:srgbClr val="172033"/>
                </a:solidFill>
              </a:rPr>
              <a:t>Roblox Runtime</a:t>
            </a:r>
          </a:p>
        </p:txBody>
      </p:sp>
      <p:sp>
        <p:nvSpPr>
          <p:cNvPr id="30" name="Shape 30"/>
          <p:cNvSpPr/>
          <p:nvPr/>
        </p:nvSpPr>
        <p:spPr>
          <a:xfrm>
            <a:off x="758952" y="1755648"/>
            <a:ext cx="2560320" cy="50292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2563EB"/>
            </a:solidFill>
          </a:ln>
        </p:spPr>
        <p:txBody>
          <a:bodyPr wrap="square"/>
          <a:lstStyle/>
          <a:p>
            <a:r>
              <a:rPr lang="en-US" sz="1250" dirty="0">
                <a:b/>
                <a:solidFill>
                  <a:srgbClr val="172033"/>
                </a:solidFill>
              </a:rPr>
              <a:t>Clients</a:t>
            </a:r>
          </a:p>
        </p:txBody>
      </p:sp>
      <p:sp>
        <p:nvSpPr>
          <p:cNvPr id="31" name="Shape 31"/>
          <p:cNvSpPr/>
          <p:nvPr/>
        </p:nvSpPr>
        <p:spPr>
          <a:xfrm>
            <a:off x="758952" y="2414015"/>
            <a:ext cx="2560320" cy="50292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2563EB"/>
            </a:solidFill>
          </a:ln>
        </p:spPr>
        <p:txBody>
          <a:bodyPr wrap="square"/>
          <a:lstStyle/>
          <a:p>
            <a:r>
              <a:rPr lang="en-US" sz="1250" dirty="0">
                <a:b/>
                <a:solidFill>
                  <a:srgbClr val="172033"/>
                </a:solidFill>
              </a:rPr>
              <a:t>RemoteEvents</a:t>
            </a:r>
          </a:p>
        </p:txBody>
      </p:sp>
      <p:sp>
        <p:nvSpPr>
          <p:cNvPr id="32" name="Shape 32"/>
          <p:cNvSpPr/>
          <p:nvPr/>
        </p:nvSpPr>
        <p:spPr>
          <a:xfrm>
            <a:off x="758952" y="3072383"/>
            <a:ext cx="2560320" cy="50292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2563EB"/>
            </a:solidFill>
          </a:ln>
        </p:spPr>
        <p:txBody>
          <a:bodyPr wrap="square"/>
          <a:lstStyle/>
          <a:p>
            <a:r>
              <a:rPr lang="en-US" sz="1250" dirty="0">
                <a:b/>
                <a:solidFill>
                  <a:srgbClr val="172033"/>
                </a:solidFill>
              </a:rPr>
              <a:t>Server Bridge</a:t>
            </a:r>
          </a:p>
        </p:txBody>
      </p:sp>
      <p:sp>
        <p:nvSpPr>
          <p:cNvPr id="33" name="Shape 33"/>
          <p:cNvSpPr/>
          <p:nvPr/>
        </p:nvSpPr>
        <p:spPr>
          <a:xfrm>
            <a:off x="758952" y="3730751"/>
            <a:ext cx="2560320" cy="50292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2563EB"/>
            </a:solidFill>
          </a:ln>
        </p:spPr>
        <p:txBody>
          <a:bodyPr wrap="square"/>
          <a:lstStyle/>
          <a:p>
            <a:r>
              <a:rPr lang="en-US" sz="1250" dirty="0">
                <a:b/>
                <a:solidFill>
                  <a:srgbClr val="172033"/>
                </a:solidFill>
              </a:rPr>
              <a:t>Visual Delta Applier</a:t>
            </a:r>
          </a:p>
        </p:txBody>
      </p:sp>
      <p:sp>
        <p:nvSpPr>
          <p:cNvPr id="11" name="Shape 11"/>
          <p:cNvSpPr/>
          <p:nvPr/>
        </p:nvSpPr>
        <p:spPr>
          <a:xfrm>
            <a:off x="4315968" y="1051560"/>
            <a:ext cx="3063240" cy="5074920"/>
          </a:xfrm>
          <a:prstGeom prst="roundRect">
            <a:avLst/>
          </a:prstGeom>
          <a:solidFill>
            <a:srgbClr val="FFFFFF"/>
          </a:solidFill>
          <a:ln w="16000">
            <a:solidFill>
              <a:srgbClr val="16A34A"/>
            </a:solidFill>
          </a:ln>
        </p:spPr>
        <p:txBody>
          <a:bodyPr wrap="square"/>
          <a:lstStyle/>
          <a:p>
            <a:r>
              <a:rPr lang="en-US" sz="1700" dirty="0">
                <a:b/>
                <a:solidFill>
                  <a:srgbClr val="172033"/>
                </a:solidFill>
              </a:rPr>
              <a:t>Backend Authority</a:t>
            </a:r>
          </a:p>
        </p:txBody>
      </p:sp>
      <p:sp>
        <p:nvSpPr>
          <p:cNvPr id="40" name="Shape 40"/>
          <p:cNvSpPr/>
          <p:nvPr/>
        </p:nvSpPr>
        <p:spPr>
          <a:xfrm>
            <a:off x="4572000" y="1755648"/>
            <a:ext cx="2560320" cy="502920"/>
          </a:xfrm>
          <a:prstGeom prst="roundRect">
            <a:avLst/>
          </a:prstGeom>
          <a:solidFill>
            <a:srgbClr val="F0FDF4"/>
          </a:solidFill>
          <a:ln w="16000">
            <a:solidFill>
              <a:srgbClr val="16A34A"/>
            </a:solidFill>
          </a:ln>
        </p:spPr>
        <p:txBody>
          <a:bodyPr wrap="square"/>
          <a:lstStyle/>
          <a:p>
            <a:r>
              <a:rPr lang="en-US" sz="1250" dirty="0">
                <a:b/>
                <a:solidFill>
                  <a:srgbClr val="172033"/>
                </a:solidFill>
              </a:rPr>
              <a:t>Session Coordinator</a:t>
            </a:r>
          </a:p>
        </p:txBody>
      </p:sp>
      <p:sp>
        <p:nvSpPr>
          <p:cNvPr id="41" name="Shape 41"/>
          <p:cNvSpPr/>
          <p:nvPr/>
        </p:nvSpPr>
        <p:spPr>
          <a:xfrm>
            <a:off x="4572000" y="2414015"/>
            <a:ext cx="2560320" cy="502920"/>
          </a:xfrm>
          <a:prstGeom prst="roundRect">
            <a:avLst/>
          </a:prstGeom>
          <a:solidFill>
            <a:srgbClr val="F0FDF4"/>
          </a:solidFill>
          <a:ln w="16000">
            <a:solidFill>
              <a:srgbClr val="16A34A"/>
            </a:solidFill>
          </a:ln>
        </p:spPr>
        <p:txBody>
          <a:bodyPr wrap="square"/>
          <a:lstStyle/>
          <a:p>
            <a:r>
              <a:rPr lang="en-US" sz="1250" dirty="0">
                <a:b/>
                <a:solidFill>
                  <a:srgbClr val="172033"/>
                </a:solidFill>
              </a:rPr>
              <a:t>Object Registry</a:t>
            </a:r>
          </a:p>
        </p:txBody>
      </p:sp>
      <p:sp>
        <p:nvSpPr>
          <p:cNvPr id="42" name="Shape 42"/>
          <p:cNvSpPr/>
          <p:nvPr/>
        </p:nvSpPr>
        <p:spPr>
          <a:xfrm>
            <a:off x="4572000" y="3072383"/>
            <a:ext cx="2560320" cy="502920"/>
          </a:xfrm>
          <a:prstGeom prst="roundRect">
            <a:avLst/>
          </a:prstGeom>
          <a:solidFill>
            <a:srgbClr val="F0FDF4"/>
          </a:solidFill>
          <a:ln w="16000">
            <a:solidFill>
              <a:srgbClr val="16A34A"/>
            </a:solidFill>
          </a:ln>
        </p:spPr>
        <p:txBody>
          <a:bodyPr wrap="square"/>
          <a:lstStyle/>
          <a:p>
            <a:r>
              <a:rPr lang="en-US" sz="1250" dirty="0">
                <a:b/>
                <a:solidFill>
                  <a:srgbClr val="172033"/>
                </a:solidFill>
              </a:rPr>
              <a:t>Agent Runtime</a:t>
            </a:r>
          </a:p>
        </p:txBody>
      </p:sp>
      <p:sp>
        <p:nvSpPr>
          <p:cNvPr id="43" name="Shape 43"/>
          <p:cNvSpPr/>
          <p:nvPr/>
        </p:nvSpPr>
        <p:spPr>
          <a:xfrm>
            <a:off x="4572000" y="3730751"/>
            <a:ext cx="2560320" cy="502920"/>
          </a:xfrm>
          <a:prstGeom prst="roundRect">
            <a:avLst/>
          </a:prstGeom>
          <a:solidFill>
            <a:srgbClr val="F0FDF4"/>
          </a:solidFill>
          <a:ln w="16000">
            <a:solidFill>
              <a:srgbClr val="16A34A"/>
            </a:solidFill>
          </a:ln>
        </p:spPr>
        <p:txBody>
          <a:bodyPr wrap="square"/>
          <a:lstStyle/>
          <a:p>
            <a:r>
              <a:rPr lang="en-US" sz="1250" dirty="0">
                <a:b/>
                <a:solidFill>
                  <a:srgbClr val="172033"/>
                </a:solidFill>
              </a:rPr>
              <a:t>Deterministic Simulation</a:t>
            </a:r>
          </a:p>
        </p:txBody>
      </p:sp>
      <p:sp>
        <p:nvSpPr>
          <p:cNvPr id="44" name="Shape 44"/>
          <p:cNvSpPr/>
          <p:nvPr/>
        </p:nvSpPr>
        <p:spPr>
          <a:xfrm>
            <a:off x="4572000" y="4389119"/>
            <a:ext cx="2560320" cy="502920"/>
          </a:xfrm>
          <a:prstGeom prst="roundRect">
            <a:avLst/>
          </a:prstGeom>
          <a:solidFill>
            <a:srgbClr val="F0FDF4"/>
          </a:solidFill>
          <a:ln w="16000">
            <a:solidFill>
              <a:srgbClr val="16A34A"/>
            </a:solidFill>
          </a:ln>
        </p:spPr>
        <p:txBody>
          <a:bodyPr wrap="square"/>
          <a:lstStyle/>
          <a:p>
            <a:r>
              <a:rPr lang="en-US" sz="1250" dirty="0">
                <a:b/>
                <a:solidFill>
                  <a:srgbClr val="172033"/>
                </a:solidFill>
              </a:rPr>
              <a:t>Validator + Reducer</a:t>
            </a:r>
          </a:p>
        </p:txBody>
      </p:sp>
      <p:sp>
        <p:nvSpPr>
          <p:cNvPr id="45" name="Shape 45"/>
          <p:cNvSpPr/>
          <p:nvPr/>
        </p:nvSpPr>
        <p:spPr>
          <a:xfrm>
            <a:off x="4572000" y="5047487"/>
            <a:ext cx="2560320" cy="502920"/>
          </a:xfrm>
          <a:prstGeom prst="roundRect">
            <a:avLst/>
          </a:prstGeom>
          <a:solidFill>
            <a:srgbClr val="F0FDF4"/>
          </a:solidFill>
          <a:ln w="16000">
            <a:solidFill>
              <a:srgbClr val="16A34A"/>
            </a:solidFill>
          </a:ln>
        </p:spPr>
        <p:txBody>
          <a:bodyPr wrap="square"/>
          <a:lstStyle/>
          <a:p>
            <a:r>
              <a:rPr lang="en-US" sz="1250" dirty="0">
                <a:b/>
                <a:solidFill>
                  <a:srgbClr val="172033"/>
                </a:solidFill>
              </a:rPr>
              <a:t>Delta Builder</a:t>
            </a:r>
          </a:p>
        </p:txBody>
      </p:sp>
      <p:sp>
        <p:nvSpPr>
          <p:cNvPr id="12" name="Shape 12"/>
          <p:cNvSpPr/>
          <p:nvPr/>
        </p:nvSpPr>
        <p:spPr>
          <a:xfrm>
            <a:off x="8119872" y="1051560"/>
            <a:ext cx="3063240" cy="5074920"/>
          </a:xfrm>
          <a:prstGeom prst="roundRect">
            <a:avLst/>
          </a:prstGeom>
          <a:solidFill>
            <a:srgbClr val="FFFFFF"/>
          </a:solidFill>
          <a:ln w="16000">
            <a:solidFill>
              <a:srgbClr val="7C3AED"/>
            </a:solidFill>
          </a:ln>
        </p:spPr>
        <p:txBody>
          <a:bodyPr wrap="square"/>
          <a:lstStyle/>
          <a:p>
            <a:r>
              <a:rPr lang="en-US" sz="1700" dirty="0">
                <a:b/>
                <a:solidFill>
                  <a:srgbClr val="172033"/>
                </a:solidFill>
              </a:rPr>
              <a:t>LLM Game Director</a:t>
            </a:r>
          </a:p>
        </p:txBody>
      </p:sp>
      <p:sp>
        <p:nvSpPr>
          <p:cNvPr id="50" name="Shape 50"/>
          <p:cNvSpPr/>
          <p:nvPr/>
        </p:nvSpPr>
        <p:spPr>
          <a:xfrm>
            <a:off x="8375904" y="1755648"/>
            <a:ext cx="2560320" cy="502920"/>
          </a:xfrm>
          <a:prstGeom prst="roundRect">
            <a:avLst/>
          </a:prstGeom>
          <a:solidFill>
            <a:srgbClr val="F5F3FF"/>
          </a:solidFill>
          <a:ln w="16000">
            <a:solidFill>
              <a:srgbClr val="7C3AED"/>
            </a:solidFill>
          </a:ln>
        </p:spPr>
        <p:txBody>
          <a:bodyPr wrap="square"/>
          <a:lstStyle/>
          <a:p>
            <a:r>
              <a:rPr lang="en-US" sz="1250" dirty="0">
                <a:b/>
                <a:solidFill>
                  <a:srgbClr val="172033"/>
                </a:solidFill>
              </a:rPr>
              <a:t>Compressed Summary</a:t>
            </a:r>
          </a:p>
        </p:txBody>
      </p:sp>
      <p:sp>
        <p:nvSpPr>
          <p:cNvPr id="51" name="Shape 51"/>
          <p:cNvSpPr/>
          <p:nvPr/>
        </p:nvSpPr>
        <p:spPr>
          <a:xfrm>
            <a:off x="8375904" y="2414015"/>
            <a:ext cx="2560320" cy="502920"/>
          </a:xfrm>
          <a:prstGeom prst="roundRect">
            <a:avLst/>
          </a:prstGeom>
          <a:solidFill>
            <a:srgbClr val="F5F3FF"/>
          </a:solidFill>
          <a:ln w="16000">
            <a:solidFill>
              <a:srgbClr val="7C3AED"/>
            </a:solidFill>
          </a:ln>
        </p:spPr>
        <p:txBody>
          <a:bodyPr wrap="square"/>
          <a:lstStyle/>
          <a:p>
            <a:r>
              <a:rPr lang="en-US" sz="1250" dirty="0">
                <a:b/>
                <a:solidFill>
                  <a:srgbClr val="172033"/>
                </a:solidFill>
              </a:rPr>
              <a:t>Object Groups</a:t>
            </a:r>
          </a:p>
        </p:txBody>
      </p:sp>
      <p:sp>
        <p:nvSpPr>
          <p:cNvPr id="52" name="Shape 52"/>
          <p:cNvSpPr/>
          <p:nvPr/>
        </p:nvSpPr>
        <p:spPr>
          <a:xfrm>
            <a:off x="8375904" y="3072383"/>
            <a:ext cx="2560320" cy="502920"/>
          </a:xfrm>
          <a:prstGeom prst="roundRect">
            <a:avLst/>
          </a:prstGeom>
          <a:solidFill>
            <a:srgbClr val="F5F3FF"/>
          </a:solidFill>
          <a:ln w="16000">
            <a:solidFill>
              <a:srgbClr val="7C3AED"/>
            </a:solidFill>
          </a:ln>
        </p:spPr>
        <p:txBody>
          <a:bodyPr wrap="square"/>
          <a:lstStyle/>
          <a:p>
            <a:r>
              <a:rPr lang="en-US" sz="1250" dirty="0">
                <a:b/>
                <a:solidFill>
                  <a:srgbClr val="172033"/>
                </a:solidFill>
              </a:rPr>
              <a:t>Structured Directives</a:t>
            </a:r>
          </a:p>
        </p:txBody>
      </p:sp>
      <p:sp>
        <p:nvSpPr>
          <p:cNvPr id="53" name="Shape 53"/>
          <p:cNvSpPr/>
          <p:nvPr/>
        </p:nvSpPr>
        <p:spPr>
          <a:xfrm>
            <a:off x="8375904" y="3730751"/>
            <a:ext cx="2560320" cy="502920"/>
          </a:xfrm>
          <a:prstGeom prst="roundRect">
            <a:avLst/>
          </a:prstGeom>
          <a:solidFill>
            <a:srgbClr val="F5F3FF"/>
          </a:solidFill>
          <a:ln w="16000">
            <a:solidFill>
              <a:srgbClr val="7C3AED"/>
            </a:solidFill>
          </a:ln>
        </p:spPr>
        <p:txBody>
          <a:bodyPr wrap="square"/>
          <a:lstStyle/>
          <a:p>
            <a:r>
              <a:rPr lang="en-US" sz="1250" dirty="0">
                <a:b/>
                <a:solidFill>
                  <a:srgbClr val="172033"/>
                </a:solidFill>
              </a:rPr>
              <a:t>Teaching Moments</a:t>
            </a:r>
          </a:p>
        </p:txBody>
      </p:sp>
      <p:sp>
        <p:nvSpPr>
          <p:cNvPr id="54" name="Shape 54"/>
          <p:cNvSpPr/>
          <p:nvPr/>
        </p:nvSpPr>
        <p:spPr>
          <a:xfrm>
            <a:off x="8375904" y="4389119"/>
            <a:ext cx="2560320" cy="502920"/>
          </a:xfrm>
          <a:prstGeom prst="roundRect">
            <a:avLst/>
          </a:prstGeom>
          <a:solidFill>
            <a:srgbClr val="F5F3FF"/>
          </a:solidFill>
          <a:ln w="16000">
            <a:solidFill>
              <a:srgbClr val="7C3AED"/>
            </a:solidFill>
          </a:ln>
        </p:spPr>
        <p:txBody>
          <a:bodyPr wrap="square"/>
          <a:lstStyle/>
          <a:p>
            <a:r>
              <a:rPr lang="en-US" sz="1250" dirty="0">
                <a:b/>
                <a:solidFill>
                  <a:srgbClr val="172033"/>
                </a:solidFill>
              </a:rPr>
              <a:t>Advisory Only</a:t>
            </a:r>
          </a:p>
        </p:txBody>
      </p:sp>
      <p:cxnSp>
        <p:nvCxnSpPr>
          <p:cNvPr id="80" name="Arrow 80"/>
          <p:cNvCxnSpPr/>
          <p:nvPr/>
        </p:nvCxnSpPr>
        <p:spPr>
          <a:xfrm>
            <a:off x="3566160" y="3401568"/>
            <a:ext cx="749808" cy="1"/>
          </a:xfrm>
          <a:prstGeom prst="line">
            <a:avLst/>
          </a:prstGeom>
          <a:ln w="28000">
            <a:solidFill>
              <a:srgbClr val="5B6578"/>
            </a:solidFill>
            <a:tailEnd type="triangle"/>
          </a:ln>
        </p:spPr>
      </p:cxnSp>
      <p:cxnSp>
        <p:nvCxnSpPr>
          <p:cNvPr id="81" name="Arrow 81"/>
          <p:cNvCxnSpPr/>
          <p:nvPr/>
        </p:nvCxnSpPr>
        <p:spPr>
          <a:xfrm>
            <a:off x="7379208" y="3401568"/>
            <a:ext cx="740664" cy="1"/>
          </a:xfrm>
          <a:prstGeom prst="line">
            <a:avLst/>
          </a:prstGeom>
          <a:ln w="28000">
            <a:solidFill>
              <a:srgbClr val="5B6578"/>
            </a:solidFill>
            <a:tailEnd type="triangle"/>
          </a:ln>
        </p:spPr>
      </p:cxnSp>
      <p:sp>
        <p:nvSpPr>
          <p:cNvPr id="82" name="Text 82"/>
          <p:cNvSpPr txBox="1"/>
          <p:nvPr/>
        </p:nvSpPr>
        <p:spPr>
          <a:xfrm>
            <a:off x="4480560" y="55321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50" dirty="0">
                <a:solidFill>
                  <a:srgbClr val="5B6578"/>
                </a:solidFill>
              </a:rPr>
              <a:t>Canonical state lives in the backend. LLM output is validated before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dirty="0">
                <a:b/>
                <a:solidFill>
                  <a:srgbClr val="172033"/>
                </a:solidFill>
              </a:rPr>
              <a:t>System And Data Flow</a:t>
            </a:r>
          </a:p>
        </p:txBody>
      </p:sp>
      <p:sp>
        <p:nvSpPr>
          <p:cNvPr id="20" name="Shape 20"/>
          <p:cNvSpPr/>
          <p:nvPr/>
        </p:nvSpPr>
        <p:spPr>
          <a:xfrm>
            <a:off x="502920" y="1280160"/>
            <a:ext cx="1874519" cy="114300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2563EB"/>
            </a:solidFill>
          </a:ln>
        </p:spPr>
        <p:txBody>
          <a:bodyPr wrap="square"/>
          <a:lstStyle/>
          <a:p>
            <a:r>
              <a:rPr lang="en-US" sz="1200" dirty="0">
                <a:b/>
                <a:solidFill>
                  <a:srgbClr val="172033"/>
                </a:solidFill>
              </a:rPr>
              <a:t>1 Sample</a:t>
            </a:r>
          </a:p>
          <a:p>
            <a:r>
              <a:rPr lang="en-US" sz="1200" dirty="0">
                <a:solidFill>
                  <a:srgbClr val="172033"/>
                </a:solidFill>
              </a:rPr>
              <a:t>Roblox samples object state and player actions.</a:t>
            </a:r>
          </a:p>
        </p:txBody>
      </p:sp>
      <p:cxnSp>
        <p:nvCxnSpPr>
          <p:cNvPr id="60" name="Arrow 60"/>
          <p:cNvCxnSpPr/>
          <p:nvPr/>
        </p:nvCxnSpPr>
        <p:spPr>
          <a:xfrm>
            <a:off x="2377439" y="1847088"/>
            <a:ext cx="457200" cy="1"/>
          </a:xfrm>
          <a:prstGeom prst="line">
            <a:avLst/>
          </a:prstGeom>
          <a:ln w="28000">
            <a:solidFill>
              <a:srgbClr val="5B6578"/>
            </a:solidFill>
            <a:tailEnd type="triangle"/>
          </a:ln>
        </p:spPr>
      </p:cxnSp>
      <p:sp>
        <p:nvSpPr>
          <p:cNvPr id="21" name="Shape 21"/>
          <p:cNvSpPr/>
          <p:nvPr/>
        </p:nvSpPr>
        <p:spPr>
          <a:xfrm>
            <a:off x="2834639" y="1280160"/>
            <a:ext cx="1874519" cy="114300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2563EB"/>
            </a:solidFill>
          </a:ln>
        </p:spPr>
        <p:txBody>
          <a:bodyPr wrap="square"/>
          <a:lstStyle/>
          <a:p>
            <a:r>
              <a:rPr lang="en-US" sz="1200" dirty="0">
                <a:b/>
                <a:solidFill>
                  <a:srgbClr val="172033"/>
                </a:solidFill>
              </a:rPr>
              <a:t>2 Observe</a:t>
            </a:r>
          </a:p>
          <a:p>
            <a:r>
              <a:rPr lang="en-US" sz="1200" dirty="0">
                <a:solidFill>
                  <a:srgbClr val="172033"/>
                </a:solidFill>
              </a:rPr>
              <a:t>Bridge sends batched HTTPS observation packet.</a:t>
            </a:r>
          </a:p>
        </p:txBody>
      </p:sp>
      <p:cxnSp>
        <p:nvCxnSpPr>
          <p:cNvPr id="61" name="Arrow 61"/>
          <p:cNvCxnSpPr/>
          <p:nvPr/>
        </p:nvCxnSpPr>
        <p:spPr>
          <a:xfrm>
            <a:off x="4709159" y="1847088"/>
            <a:ext cx="457200" cy="1"/>
          </a:xfrm>
          <a:prstGeom prst="line">
            <a:avLst/>
          </a:prstGeom>
          <a:ln w="28000">
            <a:solidFill>
              <a:srgbClr val="5B6578"/>
            </a:solidFill>
            <a:tailEnd type="triangle"/>
          </a:ln>
        </p:spPr>
      </p:cxnSp>
      <p:sp>
        <p:nvSpPr>
          <p:cNvPr id="22" name="Shape 22"/>
          <p:cNvSpPr/>
          <p:nvPr/>
        </p:nvSpPr>
        <p:spPr>
          <a:xfrm>
            <a:off x="5166359" y="1280160"/>
            <a:ext cx="1874519" cy="1143000"/>
          </a:xfrm>
          <a:prstGeom prst="roundRect">
            <a:avLst/>
          </a:prstGeom>
          <a:solidFill>
            <a:srgbClr val="F0FDF4"/>
          </a:solidFill>
          <a:ln w="16000">
            <a:solidFill>
              <a:srgbClr val="16A34A"/>
            </a:solidFill>
          </a:ln>
        </p:spPr>
        <p:txBody>
          <a:bodyPr wrap="square"/>
          <a:lstStyle/>
          <a:p>
            <a:r>
              <a:rPr lang="en-US" sz="1200" dirty="0">
                <a:b/>
                <a:solidFill>
                  <a:srgbClr val="172033"/>
                </a:solidFill>
              </a:rPr>
              <a:t>3 Auth</a:t>
            </a:r>
          </a:p>
          <a:p>
            <a:r>
              <a:rPr lang="en-US" sz="1200" dirty="0">
                <a:solidFill>
                  <a:srgbClr val="172033"/>
                </a:solidFill>
              </a:rPr>
              <a:t>Backend checks token, session, and schema.</a:t>
            </a:r>
          </a:p>
        </p:txBody>
      </p:sp>
      <p:cxnSp>
        <p:nvCxnSpPr>
          <p:cNvPr id="62" name="Arrow 62"/>
          <p:cNvCxnSpPr/>
          <p:nvPr/>
        </p:nvCxnSpPr>
        <p:spPr>
          <a:xfrm>
            <a:off x="7040879" y="1847088"/>
            <a:ext cx="457200" cy="1"/>
          </a:xfrm>
          <a:prstGeom prst="line">
            <a:avLst/>
          </a:prstGeom>
          <a:ln w="28000">
            <a:solidFill>
              <a:srgbClr val="5B6578"/>
            </a:solidFill>
            <a:tailEnd type="triangle"/>
          </a:ln>
        </p:spPr>
      </p:cxnSp>
      <p:sp>
        <p:nvSpPr>
          <p:cNvPr id="23" name="Shape 23"/>
          <p:cNvSpPr/>
          <p:nvPr/>
        </p:nvSpPr>
        <p:spPr>
          <a:xfrm>
            <a:off x="7498079" y="1280160"/>
            <a:ext cx="1874519" cy="1143000"/>
          </a:xfrm>
          <a:prstGeom prst="roundRect">
            <a:avLst/>
          </a:prstGeom>
          <a:solidFill>
            <a:srgbClr val="F0FDF4"/>
          </a:solidFill>
          <a:ln w="16000">
            <a:solidFill>
              <a:srgbClr val="16A34A"/>
            </a:solidFill>
          </a:ln>
        </p:spPr>
        <p:txBody>
          <a:bodyPr wrap="square"/>
          <a:lstStyle/>
          <a:p>
            <a:r>
              <a:rPr lang="en-US" sz="1200" dirty="0">
                <a:b/>
                <a:solidFill>
                  <a:srgbClr val="172033"/>
                </a:solidFill>
              </a:rPr>
              <a:t>4 State</a:t>
            </a:r>
          </a:p>
          <a:p>
            <a:r>
              <a:rPr lang="en-US" sz="1200" dirty="0">
                <a:solidFill>
                  <a:srgbClr val="172033"/>
                </a:solidFill>
              </a:rPr>
              <a:t>Canonical state and event log are updated.</a:t>
            </a:r>
          </a:p>
        </p:txBody>
      </p:sp>
      <p:cxnSp>
        <p:nvCxnSpPr>
          <p:cNvPr id="63" name="Arrow 63"/>
          <p:cNvCxnSpPr/>
          <p:nvPr/>
        </p:nvCxnSpPr>
        <p:spPr>
          <a:xfrm>
            <a:off x="9372600" y="1847088"/>
            <a:ext cx="457200" cy="1"/>
          </a:xfrm>
          <a:prstGeom prst="line">
            <a:avLst/>
          </a:prstGeom>
          <a:ln w="28000">
            <a:solidFill>
              <a:srgbClr val="5B6578"/>
            </a:solidFill>
            <a:tailEnd type="triangle"/>
          </a:ln>
        </p:spPr>
      </p:cxnSp>
      <p:sp>
        <p:nvSpPr>
          <p:cNvPr id="24" name="Shape 24"/>
          <p:cNvSpPr/>
          <p:nvPr/>
        </p:nvSpPr>
        <p:spPr>
          <a:xfrm>
            <a:off x="9829800" y="1280160"/>
            <a:ext cx="1874519" cy="1143000"/>
          </a:xfrm>
          <a:prstGeom prst="roundRect">
            <a:avLst/>
          </a:prstGeom>
          <a:solidFill>
            <a:srgbClr val="FFFBEB"/>
          </a:solidFill>
          <a:ln w="16000">
            <a:solidFill>
              <a:srgbClr val="D97706"/>
            </a:solidFill>
          </a:ln>
        </p:spPr>
        <p:txBody>
          <a:bodyPr wrap="square"/>
          <a:lstStyle/>
          <a:p>
            <a:r>
              <a:rPr lang="en-US" sz="1200" dirty="0">
                <a:b/>
                <a:solidFill>
                  <a:srgbClr val="172033"/>
                </a:solidFill>
              </a:rPr>
              <a:t>5 Simulate</a:t>
            </a:r>
          </a:p>
          <a:p>
            <a:r>
              <a:rPr lang="en-US" sz="1200" dirty="0">
                <a:solidFill>
                  <a:srgbClr val="172033"/>
                </a:solidFill>
              </a:rPr>
              <a:t>Deterministic rules advance the model.</a:t>
            </a:r>
          </a:p>
        </p:txBody>
      </p:sp>
      <p:cxnSp>
        <p:nvCxnSpPr>
          <p:cNvPr id="64" name="Arrow 64"/>
          <p:cNvCxnSpPr/>
          <p:nvPr/>
        </p:nvCxnSpPr>
        <p:spPr>
          <a:xfrm>
            <a:off x="502920" y="2423160"/>
            <a:ext cx="10241280" cy="914400"/>
          </a:xfrm>
          <a:prstGeom prst="line">
            <a:avLst/>
          </a:prstGeom>
          <a:ln w="28000">
            <a:solidFill>
              <a:srgbClr val="5B6578"/>
            </a:solidFill>
            <a:tailEnd type="triangle"/>
          </a:ln>
        </p:spPr>
      </p:cxnSp>
      <p:sp>
        <p:nvSpPr>
          <p:cNvPr id="25" name="Shape 25"/>
          <p:cNvSpPr/>
          <p:nvPr/>
        </p:nvSpPr>
        <p:spPr>
          <a:xfrm>
            <a:off x="502920" y="3337560"/>
            <a:ext cx="1874519" cy="1143000"/>
          </a:xfrm>
          <a:prstGeom prst="roundRect">
            <a:avLst/>
          </a:prstGeom>
          <a:solidFill>
            <a:srgbClr val="F5F3FF"/>
          </a:solidFill>
          <a:ln w="16000">
            <a:solidFill>
              <a:srgbClr val="7C3AED"/>
            </a:solidFill>
          </a:ln>
        </p:spPr>
        <p:txBody>
          <a:bodyPr wrap="square"/>
          <a:lstStyle/>
          <a:p>
            <a:r>
              <a:rPr lang="en-US" sz="1200" dirty="0">
                <a:b/>
                <a:solidFill>
                  <a:srgbClr val="172033"/>
                </a:solidFill>
              </a:rPr>
              <a:t>6 Direct</a:t>
            </a:r>
          </a:p>
          <a:p>
            <a:r>
              <a:rPr lang="en-US" sz="1200" dirty="0">
                <a:solidFill>
                  <a:srgbClr val="172033"/>
                </a:solidFill>
              </a:rPr>
              <a:t>LLM gets compact summary when needed.</a:t>
            </a:r>
          </a:p>
        </p:txBody>
      </p:sp>
      <p:cxnSp>
        <p:nvCxnSpPr>
          <p:cNvPr id="75" name="Arrow 75"/>
          <p:cNvCxnSpPr/>
          <p:nvPr/>
        </p:nvCxnSpPr>
        <p:spPr>
          <a:xfrm>
            <a:off x="2377439" y="3904487"/>
            <a:ext cx="457200" cy="1"/>
          </a:xfrm>
          <a:prstGeom prst="line">
            <a:avLst/>
          </a:prstGeom>
          <a:ln w="28000">
            <a:solidFill>
              <a:srgbClr val="5B6578"/>
            </a:solidFill>
            <a:tailEnd type="triangle"/>
          </a:ln>
        </p:spPr>
      </p:cxnSp>
      <p:sp>
        <p:nvSpPr>
          <p:cNvPr id="26" name="Shape 26"/>
          <p:cNvSpPr/>
          <p:nvPr/>
        </p:nvSpPr>
        <p:spPr>
          <a:xfrm>
            <a:off x="2834639" y="3337560"/>
            <a:ext cx="1874519" cy="1143000"/>
          </a:xfrm>
          <a:prstGeom prst="roundRect">
            <a:avLst/>
          </a:prstGeom>
          <a:solidFill>
            <a:srgbClr val="FEF2F2"/>
          </a:solidFill>
          <a:ln w="16000">
            <a:solidFill>
              <a:srgbClr val="DC2626"/>
            </a:solidFill>
          </a:ln>
        </p:spPr>
        <p:txBody>
          <a:bodyPr wrap="square"/>
          <a:lstStyle/>
          <a:p>
            <a:r>
              <a:rPr lang="en-US" sz="1200" dirty="0">
                <a:b/>
                <a:solidFill>
                  <a:srgbClr val="172033"/>
                </a:solidFill>
              </a:rPr>
              <a:t>7 Validate</a:t>
            </a:r>
          </a:p>
          <a:p>
            <a:r>
              <a:rPr lang="en-US" sz="1200" dirty="0">
                <a:solidFill>
                  <a:srgbClr val="172033"/>
                </a:solidFill>
              </a:rPr>
              <a:t>Directives are accepted, clamped, or rejected.</a:t>
            </a:r>
          </a:p>
        </p:txBody>
      </p:sp>
      <p:cxnSp>
        <p:nvCxnSpPr>
          <p:cNvPr id="76" name="Arrow 76"/>
          <p:cNvCxnSpPr/>
          <p:nvPr/>
        </p:nvCxnSpPr>
        <p:spPr>
          <a:xfrm>
            <a:off x="4709159" y="3904487"/>
            <a:ext cx="457200" cy="1"/>
          </a:xfrm>
          <a:prstGeom prst="line">
            <a:avLst/>
          </a:prstGeom>
          <a:ln w="28000">
            <a:solidFill>
              <a:srgbClr val="5B6578"/>
            </a:solidFill>
            <a:tailEnd type="triangle"/>
          </a:ln>
        </p:spPr>
      </p:cxnSp>
      <p:sp>
        <p:nvSpPr>
          <p:cNvPr id="27" name="Shape 27"/>
          <p:cNvSpPr/>
          <p:nvPr/>
        </p:nvSpPr>
        <p:spPr>
          <a:xfrm>
            <a:off x="5166359" y="3337560"/>
            <a:ext cx="1874519" cy="1143000"/>
          </a:xfrm>
          <a:prstGeom prst="roundRect">
            <a:avLst/>
          </a:prstGeom>
          <a:solidFill>
            <a:srgbClr val="F0FDF4"/>
          </a:solidFill>
          <a:ln w="16000">
            <a:solidFill>
              <a:srgbClr val="16A34A"/>
            </a:solidFill>
          </a:ln>
        </p:spPr>
        <p:txBody>
          <a:bodyPr wrap="square"/>
          <a:lstStyle/>
          <a:p>
            <a:r>
              <a:rPr lang="en-US" sz="1200" dirty="0">
                <a:b/>
                <a:solidFill>
                  <a:srgbClr val="172033"/>
                </a:solidFill>
              </a:rPr>
              <a:t>8 Queue</a:t>
            </a:r>
          </a:p>
          <a:p>
            <a:r>
              <a:rPr lang="en-US" sz="1200" dirty="0">
                <a:solidFill>
                  <a:srgbClr val="172033"/>
                </a:solidFill>
              </a:rPr>
              <a:t>Approved visual deltas are queued.</a:t>
            </a:r>
          </a:p>
        </p:txBody>
      </p:sp>
      <p:cxnSp>
        <p:nvCxnSpPr>
          <p:cNvPr id="77" name="Arrow 77"/>
          <p:cNvCxnSpPr/>
          <p:nvPr/>
        </p:nvCxnSpPr>
        <p:spPr>
          <a:xfrm>
            <a:off x="7040879" y="3904487"/>
            <a:ext cx="457200" cy="1"/>
          </a:xfrm>
          <a:prstGeom prst="line">
            <a:avLst/>
          </a:prstGeom>
          <a:ln w="28000">
            <a:solidFill>
              <a:srgbClr val="5B6578"/>
            </a:solidFill>
            <a:tailEnd type="triangle"/>
          </a:ln>
        </p:spPr>
      </p:cxnSp>
      <p:sp>
        <p:nvSpPr>
          <p:cNvPr id="28" name="Shape 28"/>
          <p:cNvSpPr/>
          <p:nvPr/>
        </p:nvSpPr>
        <p:spPr>
          <a:xfrm>
            <a:off x="7498079" y="3337560"/>
            <a:ext cx="1874519" cy="114300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2563EB"/>
            </a:solidFill>
          </a:ln>
        </p:spPr>
        <p:txBody>
          <a:bodyPr wrap="square"/>
          <a:lstStyle/>
          <a:p>
            <a:r>
              <a:rPr lang="en-US" sz="1200" dirty="0">
                <a:b/>
                <a:solidFill>
                  <a:srgbClr val="172033"/>
                </a:solidFill>
              </a:rPr>
              <a:t>9 Apply</a:t>
            </a:r>
          </a:p>
          <a:p>
            <a:r>
              <a:rPr lang="en-US" sz="1200" dirty="0">
                <a:solidFill>
                  <a:srgbClr val="172033"/>
                </a:solidFill>
              </a:rPr>
              <a:t>Roblox polls and applies deltas.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685800" y="571500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 dirty="0">
                <a:solidFill>
                  <a:srgbClr val="5B6578"/>
                </a:solidFill>
              </a:rPr>
              <a:t>Fast path: deterministic backend loop. Slow path: LLM director only on scenario changes, inspections, or thresholds.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dirty="0">
                <a:b/>
                <a:solidFill>
                  <a:srgbClr val="172033"/>
                </a:solidFill>
              </a:rPr>
              <a:t>Final Decision And Guardrails</a:t>
            </a:r>
          </a:p>
        </p:txBody>
      </p:sp>
      <p:sp>
        <p:nvSpPr>
          <p:cNvPr id="3" name="Shape 3"/>
          <p:cNvSpPr/>
          <p:nvPr/>
        </p:nvSpPr>
        <p:spPr>
          <a:xfrm>
            <a:off x="685800" y="1143000"/>
            <a:ext cx="5257800" cy="1828800"/>
          </a:xfrm>
          <a:prstGeom prst="roundRect">
            <a:avLst/>
          </a:prstGeom>
          <a:solidFill>
            <a:srgbClr val="F0FDF4"/>
          </a:solidFill>
          <a:ln w="16000">
            <a:solidFill>
              <a:srgbClr val="16A34A"/>
            </a:solidFill>
          </a:ln>
        </p:spPr>
        <p:txBody>
          <a:bodyPr wrap="square"/>
          <a:lstStyle/>
          <a:p>
            <a:r>
              <a:rPr lang="en-US" sz="1450" dirty="0">
                <a:b/>
                <a:solidFill>
                  <a:srgbClr val="172033"/>
                </a:solidFill>
              </a:rPr>
              <a:t>Build now</a:t>
            </a:r>
          </a:p>
          <a:p>
            <a:r>
              <a:rPr lang="en-US" sz="1450" dirty="0">
                <a:solidFill>
                  <a:srgbClr val="172033"/>
                </a:solidFill>
              </a:rPr>
              <a:t>FastAPI Backend Authority with batched Roblox observations, deterministic simulation, backend agent records, optional LLM director, strict validation, and queued deltas.</a:t>
            </a:r>
          </a:p>
        </p:txBody>
      </p:sp>
      <p:sp>
        <p:nvSpPr>
          <p:cNvPr id="4" name="Shape 4"/>
          <p:cNvSpPr/>
          <p:nvPr/>
        </p:nvSpPr>
        <p:spPr>
          <a:xfrm>
            <a:off x="6263640" y="1143000"/>
            <a:ext cx="5257800" cy="1828800"/>
          </a:xfrm>
          <a:prstGeom prst="roundRect">
            <a:avLst/>
          </a:prstGeom>
          <a:solidFill>
            <a:srgbClr val="F5F3FF"/>
          </a:solidFill>
          <a:ln w="16000">
            <a:solidFill>
              <a:srgbClr val="7C3AED"/>
            </a:solidFill>
          </a:ln>
        </p:spPr>
        <p:txBody>
          <a:bodyPr wrap="square"/>
          <a:lstStyle/>
          <a:p>
            <a:r>
              <a:rPr lang="en-US" sz="1450" dirty="0">
                <a:b/>
                <a:solidFill>
                  <a:srgbClr val="172033"/>
                </a:solidFill>
              </a:rPr>
              <a:t>Scale later</a:t>
            </a:r>
          </a:p>
          <a:p>
            <a:r>
              <a:rPr lang="en-US" sz="1450" dirty="0">
                <a:solidFill>
                  <a:srgbClr val="172033"/>
                </a:solidFill>
              </a:rPr>
              <a:t>Hybrid Edge Coordinator plus FastAPI Brain after object counts, packet size, polling rate, LLM cost, and gameplay value are proven.</a:t>
            </a:r>
          </a:p>
        </p:txBody>
      </p:sp>
      <p:sp>
        <p:nvSpPr>
          <p:cNvPr id="5" name="Shape 5"/>
          <p:cNvSpPr/>
          <p:nvPr/>
        </p:nvSpPr>
        <p:spPr>
          <a:xfrm>
            <a:off x="685800" y="3429000"/>
            <a:ext cx="5257800" cy="1645920"/>
          </a:xfrm>
          <a:prstGeom prst="roundRect">
            <a:avLst/>
          </a:prstGeom>
          <a:solidFill>
            <a:srgbClr val="FEF2F2"/>
          </a:solidFill>
          <a:ln w="16000">
            <a:solidFill>
              <a:srgbClr val="DC2626"/>
            </a:solidFill>
          </a:ln>
        </p:spPr>
        <p:txBody>
          <a:bodyPr wrap="square"/>
          <a:lstStyle/>
          <a:p>
            <a:r>
              <a:rPr lang="en-US" sz="1450" dirty="0">
                <a:b/>
                <a:solidFill>
                  <a:srgbClr val="172033"/>
                </a:solidFill>
              </a:rPr>
              <a:t>Reject</a:t>
            </a:r>
          </a:p>
          <a:p>
            <a:r>
              <a:rPr lang="en-US" sz="1450" dirty="0">
                <a:solidFill>
                  <a:srgbClr val="172033"/>
                </a:solidFill>
              </a:rPr>
              <a:t>Direct Roblox-to-LLM calls, one LLM agent per object, and any architecture where LLM output bypasses validation.</a:t>
            </a:r>
          </a:p>
        </p:txBody>
      </p:sp>
      <p:sp>
        <p:nvSpPr>
          <p:cNvPr id="6" name="Shape 6"/>
          <p:cNvSpPr/>
          <p:nvPr/>
        </p:nvSpPr>
        <p:spPr>
          <a:xfrm>
            <a:off x="6263640" y="3429000"/>
            <a:ext cx="5257800" cy="1645920"/>
          </a:xfrm>
          <a:prstGeom prst="roundRect">
            <a:avLst/>
          </a:prstGeom>
          <a:solidFill>
            <a:srgbClr val="FFFFFF"/>
          </a:solidFill>
          <a:ln w="16000">
            <a:solidFill>
              <a:srgbClr val="CBD5E1"/>
            </a:solidFill>
          </a:ln>
        </p:spPr>
        <p:txBody>
          <a:bodyPr wrap="square"/>
          <a:lstStyle/>
          <a:p>
            <a:r>
              <a:rPr lang="en-US" sz="1550" dirty="0">
                <a:b/>
                <a:solidFill>
                  <a:srgbClr val="172033"/>
                </a:solidFill>
              </a:rPr>
              <a:t>Core rule</a:t>
            </a:r>
          </a:p>
          <a:p>
            <a:r>
              <a:rPr lang="en-US" sz="1550" dirty="0">
                <a:solidFill>
                  <a:srgbClr val="172033"/>
                </a:solidFill>
              </a:rPr>
              <a:t>Roblox renders. Backend owns state. LLM directs. Validator decides what becomes real.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Minimal">
  <a:themeElements>
    <a:clrScheme name="Codex">
      <a:dk1>
        <a:srgbClr val="172033"/>
      </a:dk1>
      <a:lt1>
        <a:srgbClr val="FFFFFF"/>
      </a:lt1>
      <a:dk2>
        <a:srgbClr val="334155"/>
      </a:dk2>
      <a:lt2>
        <a:srgbClr val="F7FAFC"/>
      </a:lt2>
      <a:accent1>
        <a:srgbClr val="2563EB"/>
      </a:accent1>
      <a:accent2>
        <a:srgbClr val="16A34A"/>
      </a:accent2>
      <a:accent3>
        <a:srgbClr val="D97706"/>
      </a:accent3>
      <a:accent4>
        <a:srgbClr val="7C3AED"/>
      </a:accent4>
      <a:accent5>
        <a:srgbClr val="DC2626"/>
      </a:accent5>
      <a:accent6>
        <a:srgbClr val="5B6578"/>
      </a:accent6>
      <a:hlink>
        <a:srgbClr val="2563EB"/>
      </a:hlink>
      <a:folHlink>
        <a:srgbClr val="7C3AED"/>
      </a:folHlink>
    </a:clrScheme>
    <a:fontScheme name="Codex">
      <a:majorFont>
        <a:latin typeface="Aptos Display"/>
      </a:majorFont>
      <a:minorFont>
        <a:latin typeface="Aptos"/>
      </a:minorFont>
    </a:fontScheme>
    <a:fmtScheme name="Codex">
      <a:fillStyleLst>
        <a:solidFill>
          <a:schemeClr val="phClr"/>
        </a:solidFill>
      </a:fillStyleLst>
      <a:lnStyleLst>
        <a:ln w="160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Learning Experience Architecture</dc:title>
  <dc:creator>Codex</dc:creator>
  <cp:lastModifiedBy>Codex</cp:lastModifiedBy>
  <dcterms:created xsi:type="dcterms:W3CDTF">2026-04-27T07:27:58+00:00</dcterms:created>
  <dcterms:modified xsi:type="dcterms:W3CDTF">2026-04-27T07:27:58+00:00</dcterms:modified>
</cp:coreProperties>
</file>